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17" r:id="rId5"/>
    <p:sldId id="307" r:id="rId6"/>
    <p:sldId id="309" r:id="rId7"/>
    <p:sldId id="263" r:id="rId8"/>
    <p:sldId id="310" r:id="rId9"/>
    <p:sldId id="311" r:id="rId10"/>
    <p:sldId id="319" r:id="rId11"/>
    <p:sldId id="318" r:id="rId12"/>
    <p:sldId id="316" r:id="rId13"/>
    <p:sldId id="314" r:id="rId14"/>
    <p:sldId id="315" r:id="rId15"/>
    <p:sldId id="321" r:id="rId16"/>
    <p:sldId id="304" r:id="rId17"/>
    <p:sldId id="32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E6A76"/>
    <a:srgbClr val="FFF4ED"/>
    <a:srgbClr val="636A58"/>
    <a:srgbClr val="505A47"/>
    <a:srgbClr val="D1D8B7"/>
    <a:srgbClr val="A09D79"/>
    <a:srgbClr val="AD5C4D"/>
    <a:srgbClr val="543E35"/>
    <a:srgbClr val="63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95405" autoAdjust="0"/>
  </p:normalViewPr>
  <p:slideViewPr>
    <p:cSldViewPr snapToGrid="0">
      <p:cViewPr varScale="1">
        <p:scale>
          <a:sx n="105" d="100"/>
          <a:sy n="105" d="100"/>
        </p:scale>
        <p:origin x="702" y="11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2E99-8C22-F850-B7E1-387DAC44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40CFD-CE95-ED47-38FA-08EC79A5C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E35FE-B046-CB2E-9D9A-03C302466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240C7-69C8-CD22-0C52-3841B4B2D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4142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pPr algn="l"/>
            <a:r>
              <a:rPr lang="en-US" dirty="0"/>
              <a:t>Gesture-Based Secure Authentication System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Team Members: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2303A51684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2303A51062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2303A510G7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2303A51360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Department of Computer Science &amp; Engineering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43" y="507331"/>
            <a:ext cx="7331241" cy="1271337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Gesture-Based Authentication?</a:t>
            </a:r>
            <a:endParaRPr lang="en-US" dirty="0"/>
          </a:p>
        </p:txBody>
      </p:sp>
      <p:graphicFrame>
        <p:nvGraphicFramePr>
          <p:cNvPr id="56" name="Content Placeholder 55">
            <a:extLst>
              <a:ext uri="{FF2B5EF4-FFF2-40B4-BE49-F238E27FC236}">
                <a16:creationId xmlns:a16="http://schemas.microsoft.com/office/drawing/2014/main" id="{098B648F-F1CC-F170-D0DB-9B2A3429EB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8536195"/>
              </p:ext>
            </p:extLst>
          </p:nvPr>
        </p:nvGraphicFramePr>
        <p:xfrm>
          <a:off x="6740776" y="2153650"/>
          <a:ext cx="5130381" cy="40065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0381">
                  <a:extLst>
                    <a:ext uri="{9D8B030D-6E8A-4147-A177-3AD203B41FA5}">
                      <a16:colId xmlns:a16="http://schemas.microsoft.com/office/drawing/2014/main" val="3922158084"/>
                    </a:ext>
                  </a:extLst>
                </a:gridCol>
              </a:tblGrid>
              <a:tr h="4006517">
                <a:tc>
                  <a:txBody>
                    <a:bodyPr/>
                    <a:lstStyle/>
                    <a:p>
                      <a:r>
                        <a:rPr lang="en-US" sz="2000" b="1" dirty="0"/>
                        <a:t>👁️ 21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Hand Landmarks tracked per frame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b="1" dirty="0"/>
                        <a:t>⚡ 30 FPS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Real-time gesture processing</a:t>
                      </a:r>
                    </a:p>
                    <a:p>
                      <a:endParaRPr lang="en-US" sz="2000" dirty="0"/>
                    </a:p>
                    <a:p>
                      <a:r>
                        <a:rPr lang="en-US" sz="2000" b="1" dirty="0"/>
                        <a:t>🎯 82%+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Similarity score required for access</a:t>
                      </a:r>
                    </a:p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55261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21F8D7B0-9D2D-E747-5AB5-1BDC4F9CD064}"/>
              </a:ext>
            </a:extLst>
          </p:cNvPr>
          <p:cNvSpPr txBox="1"/>
          <p:nvPr/>
        </p:nvSpPr>
        <p:spPr>
          <a:xfrm>
            <a:off x="320843" y="1921042"/>
            <a:ext cx="54864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🔐 </a:t>
            </a:r>
            <a:r>
              <a:rPr lang="en-US" sz="2800" b="1" dirty="0">
                <a:solidFill>
                  <a:srgbClr val="000000"/>
                </a:solidFill>
              </a:rPr>
              <a:t>Overview</a:t>
            </a:r>
          </a:p>
          <a:p>
            <a:endParaRPr lang="en-IN" dirty="0"/>
          </a:p>
          <a:p>
            <a:r>
              <a:rPr lang="en-US" sz="2400" dirty="0">
                <a:solidFill>
                  <a:schemeClr val="accent6">
                    <a:lumMod val="10000"/>
                  </a:schemeClr>
                </a:solidFill>
              </a:rPr>
              <a:t>Traditional passwords are increasingly vulnerable to phishing, brute-force attacks, and credential theft. Gesture-based authentication leverages the unique behavioral patterns of hand movements as a biometric credential — offering a password less, liveness-aware, and user-friendly security layer.</a:t>
            </a:r>
          </a:p>
          <a:p>
            <a:endParaRPr lang="en-I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81FDE0-6E80-2031-1337-9D734ABDEB37}"/>
              </a:ext>
            </a:extLst>
          </p:cNvPr>
          <p:cNvSpPr txBox="1"/>
          <p:nvPr/>
        </p:nvSpPr>
        <p:spPr>
          <a:xfrm>
            <a:off x="-1852863" y="180291"/>
            <a:ext cx="6112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INTRODUCTION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73" y="171651"/>
            <a:ext cx="7534656" cy="914400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Project Objectives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B00737-DB1D-071A-28B6-66C6CABB311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528015625"/>
              </p:ext>
            </p:extLst>
          </p:nvPr>
        </p:nvGraphicFramePr>
        <p:xfrm>
          <a:off x="522973" y="1291552"/>
          <a:ext cx="4828674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8674">
                  <a:extLst>
                    <a:ext uri="{9D8B030D-6E8A-4147-A177-3AD203B41FA5}">
                      <a16:colId xmlns:a16="http://schemas.microsoft.com/office/drawing/2014/main" val="3669462081"/>
                    </a:ext>
                  </a:extLst>
                </a:gridCol>
              </a:tblGrid>
              <a:tr h="13619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🤚 Gesture Capture 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Capture real-time hand gestures via webcam using Media Pipe for accurate 21-landmark detection across 3 seconds.</a:t>
                      </a:r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6400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8BD52F7-D5F7-4A18-A0E4-98BD2AAB8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05931"/>
              </p:ext>
            </p:extLst>
          </p:nvPr>
        </p:nvGraphicFramePr>
        <p:xfrm>
          <a:off x="6755250" y="1272140"/>
          <a:ext cx="4828674" cy="1463040"/>
        </p:xfrm>
        <a:graphic>
          <a:graphicData uri="http://schemas.openxmlformats.org/drawingml/2006/table">
            <a:tbl>
              <a:tblPr/>
              <a:tblGrid>
                <a:gridCol w="4828674">
                  <a:extLst>
                    <a:ext uri="{9D8B030D-6E8A-4147-A177-3AD203B41FA5}">
                      <a16:colId xmlns:a16="http://schemas.microsoft.com/office/drawing/2014/main" val="977254958"/>
                    </a:ext>
                  </a:extLst>
                </a:gridCol>
              </a:tblGrid>
              <a:tr h="13796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02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🔒 Secure Registration 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Register users with dual-capture gesture templates to ensure consistency. Store hashed user IDs and feature vectors in a JSON database.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04018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CB05DC1-51FC-AE06-AC9B-1ACFAC0E8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963484"/>
              </p:ext>
            </p:extLst>
          </p:nvPr>
        </p:nvGraphicFramePr>
        <p:xfrm>
          <a:off x="522973" y="3160934"/>
          <a:ext cx="4828674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8674">
                  <a:extLst>
                    <a:ext uri="{9D8B030D-6E8A-4147-A177-3AD203B41FA5}">
                      <a16:colId xmlns:a16="http://schemas.microsoft.com/office/drawing/2014/main" val="4067995254"/>
                    </a:ext>
                  </a:extLst>
                </a:gridCol>
              </a:tblGrid>
              <a:tr h="11149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03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📏 Similarity Matching</a:t>
                      </a:r>
                      <a:endParaRPr 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Implement cosine-similarity scoring on resampled gesture frame sequences with a configurable threshold for access control.</a:t>
                      </a:r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93613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5EFAD3D-9ADF-09C4-AE55-11776D0C0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751680"/>
              </p:ext>
            </p:extLst>
          </p:nvPr>
        </p:nvGraphicFramePr>
        <p:xfrm>
          <a:off x="6755248" y="3160934"/>
          <a:ext cx="4828675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8675">
                  <a:extLst>
                    <a:ext uri="{9D8B030D-6E8A-4147-A177-3AD203B41FA5}">
                      <a16:colId xmlns:a16="http://schemas.microsoft.com/office/drawing/2014/main" val="1842846461"/>
                    </a:ext>
                  </a:extLst>
                </a:gridCol>
              </a:tblGrid>
              <a:tr h="895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04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🛡️ Liveness &amp; Lockout</a:t>
                      </a:r>
                      <a:endParaRPr 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Detect active hand presence (liveness) and lock accounts after configurable failed login attempts to prevent replay attacks.</a:t>
                      </a:r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50633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63355F7-6A08-66F5-719D-D59D5B170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880855"/>
              </p:ext>
            </p:extLst>
          </p:nvPr>
        </p:nvGraphicFramePr>
        <p:xfrm>
          <a:off x="522973" y="5030316"/>
          <a:ext cx="4828674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8674">
                  <a:extLst>
                    <a:ext uri="{9D8B030D-6E8A-4147-A177-3AD203B41FA5}">
                      <a16:colId xmlns:a16="http://schemas.microsoft.com/office/drawing/2014/main" val="2684318349"/>
                    </a:ext>
                  </a:extLst>
                </a:gridCol>
              </a:tblGrid>
              <a:tr h="12031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05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👤 Multi-User Support</a:t>
                      </a:r>
                      <a:r>
                        <a:rPr lang="en-IN" sz="1800" b="1" dirty="0">
                          <a:solidFill>
                            <a:srgbClr val="FFFFFF"/>
                          </a:solidFill>
                        </a:rPr>
                        <a:t> 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Support multiple user registrations with per-user hashed IDs, templates, timestamps, and an admin panel for management.</a:t>
                      </a:r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75825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338872-45CE-C8BC-F9EA-D1F716E43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847302"/>
              </p:ext>
            </p:extLst>
          </p:nvPr>
        </p:nvGraphicFramePr>
        <p:xfrm>
          <a:off x="6755248" y="5025659"/>
          <a:ext cx="4828675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8675">
                  <a:extLst>
                    <a:ext uri="{9D8B030D-6E8A-4147-A177-3AD203B41FA5}">
                      <a16:colId xmlns:a16="http://schemas.microsoft.com/office/drawing/2014/main" val="4140120963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06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🖥️ Real-Time Feedback</a:t>
                      </a:r>
                      <a:endParaRPr 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Provide on-screen progress bars, countdown timers, and similarity scores for an intuitive user experience.</a:t>
                      </a:r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7021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54DEF3D-AA24-963E-4E9B-FD0BEEAA3AFF}"/>
              </a:ext>
            </a:extLst>
          </p:cNvPr>
          <p:cNvSpPr txBox="1"/>
          <p:nvPr/>
        </p:nvSpPr>
        <p:spPr>
          <a:xfrm>
            <a:off x="-2001252" y="179978"/>
            <a:ext cx="610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OBJECTIVES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8916" y="380743"/>
            <a:ext cx="9233438" cy="834189"/>
          </a:xfrm>
        </p:spPr>
        <p:txBody>
          <a:bodyPr anchor="b"/>
          <a:lstStyle/>
          <a:p>
            <a:r>
              <a:rPr lang="en-US" b="1" dirty="0">
                <a:solidFill>
                  <a:srgbClr val="0F2D5E"/>
                </a:solidFill>
              </a:rPr>
              <a:t>Key Stakeholders</a:t>
            </a:r>
            <a:endParaRPr lang="en-US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0CB71FA7-4F3E-1722-4048-2C66B6D94C6C}"/>
              </a:ext>
            </a:extLst>
          </p:cNvPr>
          <p:cNvSpPr/>
          <p:nvPr/>
        </p:nvSpPr>
        <p:spPr>
          <a:xfrm>
            <a:off x="839510" y="4318614"/>
            <a:ext cx="4796587" cy="2460456"/>
          </a:xfrm>
          <a:prstGeom prst="rect">
            <a:avLst/>
          </a:prstGeom>
          <a:solidFill>
            <a:srgbClr val="FF9B54"/>
          </a:solidFill>
          <a:ln w="12700">
            <a:solidFill>
              <a:srgbClr val="FF9B54"/>
            </a:solidFill>
            <a:prstDash val="solid"/>
          </a:ln>
          <a:effectLst>
            <a:outerShdw blurRad="76200" dist="25400" dir="81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endParaRPr lang="en-US" b="1" dirty="0">
              <a:solidFill>
                <a:srgbClr val="FFFFFF"/>
              </a:solidFill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</a:rPr>
              <a:t>Administrators</a:t>
            </a:r>
            <a:endParaRPr lang="en-US" dirty="0"/>
          </a:p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r>
              <a:rPr lang="en-US" dirty="0">
                <a:solidFill>
                  <a:srgbClr val="FFFFFF"/>
                </a:solidFill>
              </a:rPr>
              <a:t>IT admins who manage user accounts — view registered users, unlock locked accounts, and audit access logs.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55114FCD-B926-DB24-2F33-D9347F81C5F6}"/>
              </a:ext>
            </a:extLst>
          </p:cNvPr>
          <p:cNvSpPr/>
          <p:nvPr/>
        </p:nvSpPr>
        <p:spPr>
          <a:xfrm>
            <a:off x="6634200" y="1424862"/>
            <a:ext cx="4796588" cy="2487327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</a:rPr>
              <a:t>Organizations</a:t>
            </a:r>
            <a:endParaRPr lang="en-US" dirty="0"/>
          </a:p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r>
              <a:rPr lang="en-US" dirty="0">
                <a:solidFill>
                  <a:srgbClr val="FFFFFF"/>
                </a:solidFill>
              </a:rPr>
              <a:t>Enterprises, labs, and institutions deploying gesture auth for secure access to systems, reducing credential theft risks.</a:t>
            </a:r>
            <a:endParaRPr lang="en-US" dirty="0"/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1F0BCE9C-D980-5DAF-9C04-6C00A199FA96}"/>
              </a:ext>
            </a:extLst>
          </p:cNvPr>
          <p:cNvSpPr/>
          <p:nvPr/>
        </p:nvSpPr>
        <p:spPr>
          <a:xfrm>
            <a:off x="8163814" y="2220870"/>
            <a:ext cx="17373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DEC1665E-DC76-557C-6313-C5D4283B4AC5}"/>
              </a:ext>
            </a:extLst>
          </p:cNvPr>
          <p:cNvSpPr/>
          <p:nvPr/>
        </p:nvSpPr>
        <p:spPr>
          <a:xfrm>
            <a:off x="2369123" y="5301194"/>
            <a:ext cx="17373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391A97AD-8680-30A6-1410-8637B693B7C5}"/>
              </a:ext>
            </a:extLst>
          </p:cNvPr>
          <p:cNvSpPr/>
          <p:nvPr/>
        </p:nvSpPr>
        <p:spPr>
          <a:xfrm>
            <a:off x="6634200" y="4291743"/>
            <a:ext cx="4796588" cy="2487327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  <a:effectLst>
            <a:outerShdw blurRad="76200" dist="25400" dir="81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</a:rPr>
              <a:t>Researchers</a:t>
            </a:r>
            <a:endParaRPr lang="en-US" dirty="0"/>
          </a:p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r>
              <a:rPr lang="en-US" dirty="0">
                <a:solidFill>
                  <a:srgbClr val="FFFFFF"/>
                </a:solidFill>
              </a:rPr>
              <a:t>Academic researchers exploring biometric authentication, gesture recognition, and human-computer interaction.</a:t>
            </a:r>
            <a:endParaRPr lang="en-US" dirty="0"/>
          </a:p>
        </p:txBody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F2FC0A2B-32D2-1363-18AF-9EE7719D559E}"/>
              </a:ext>
            </a:extLst>
          </p:cNvPr>
          <p:cNvSpPr/>
          <p:nvPr/>
        </p:nvSpPr>
        <p:spPr>
          <a:xfrm>
            <a:off x="8163814" y="5282906"/>
            <a:ext cx="17373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CDC6DAFB-FCE2-B369-C587-8706261AB01F}"/>
              </a:ext>
            </a:extLst>
          </p:cNvPr>
          <p:cNvSpPr/>
          <p:nvPr/>
        </p:nvSpPr>
        <p:spPr>
          <a:xfrm>
            <a:off x="839509" y="1438298"/>
            <a:ext cx="4796588" cy="2460456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  <a:effectLst>
            <a:outerShdw blurRad="76200" dist="25400" dir="81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r>
              <a:rPr lang="en-US" dirty="0">
                <a:solidFill>
                  <a:srgbClr val="FFFFFF"/>
                </a:solidFill>
              </a:rPr>
              <a:t>End user </a:t>
            </a:r>
          </a:p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r>
              <a:rPr lang="en-US" dirty="0">
                <a:solidFill>
                  <a:srgbClr val="FFFFFF"/>
                </a:solidFill>
              </a:rPr>
              <a:t>Individuals who register and authenticate using hand gestures. Benefit from password less, frictionless login experience.</a:t>
            </a:r>
            <a:endParaRPr lang="en-US" dirty="0"/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01C1DF60-0ED7-958D-4E15-3F960958404C}"/>
              </a:ext>
            </a:extLst>
          </p:cNvPr>
          <p:cNvSpPr/>
          <p:nvPr/>
        </p:nvSpPr>
        <p:spPr>
          <a:xfrm>
            <a:off x="2369123" y="2399132"/>
            <a:ext cx="173736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B6104E-5F68-0B25-194F-773F182FE294}"/>
              </a:ext>
            </a:extLst>
          </p:cNvPr>
          <p:cNvSpPr txBox="1"/>
          <p:nvPr/>
        </p:nvSpPr>
        <p:spPr>
          <a:xfrm>
            <a:off x="-2302042" y="53125"/>
            <a:ext cx="678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STAKEHOLDERS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77" y="335249"/>
            <a:ext cx="10360152" cy="914400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Programming Languages, Tools &amp; Software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199" y="1444036"/>
            <a:ext cx="4358951" cy="1791744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0000"/>
                </a:solidFill>
              </a:rPr>
              <a:t>🐍</a:t>
            </a:r>
            <a:endParaRPr lang="en-US" dirty="0"/>
          </a:p>
          <a:p>
            <a:r>
              <a:rPr lang="en-US" b="1" dirty="0">
                <a:solidFill>
                  <a:srgbClr val="2EC866"/>
                </a:solidFill>
              </a:rPr>
              <a:t>LANGUAGE</a:t>
            </a:r>
            <a:endParaRPr lang="en-US" dirty="0"/>
          </a:p>
          <a:p>
            <a:r>
              <a:rPr lang="en-US" b="1" dirty="0">
                <a:solidFill>
                  <a:srgbClr val="FFFFFF"/>
                </a:solidFill>
              </a:rPr>
              <a:t>Python 3.x</a:t>
            </a:r>
            <a:endParaRPr lang="en-US" dirty="0"/>
          </a:p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Core programming language. Object-oriented, modular code structure.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13984" y="1444036"/>
            <a:ext cx="4439816" cy="179174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0000"/>
                </a:solidFill>
              </a:rPr>
              <a:t>🖐️</a:t>
            </a:r>
            <a:endParaRPr lang="en-US" dirty="0"/>
          </a:p>
          <a:p>
            <a:r>
              <a:rPr lang="en-US" b="1" dirty="0">
                <a:solidFill>
                  <a:srgbClr val="00B4D8"/>
                </a:solidFill>
              </a:rPr>
              <a:t>ML LIBRARY</a:t>
            </a:r>
            <a:endParaRPr lang="en-US" dirty="0"/>
          </a:p>
          <a:p>
            <a:r>
              <a:rPr lang="en-US" b="1" dirty="0">
                <a:solidFill>
                  <a:srgbClr val="FFFFFF"/>
                </a:solidFill>
              </a:rPr>
              <a:t>Media Pipe</a:t>
            </a:r>
            <a:endParaRPr lang="en-US" dirty="0"/>
          </a:p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Google's ML framework for real-time hand landmark detection (21 points).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A1739-C6A8-F14B-27C7-DAF27665EA07}"/>
              </a:ext>
            </a:extLst>
          </p:cNvPr>
          <p:cNvSpPr txBox="1"/>
          <p:nvPr/>
        </p:nvSpPr>
        <p:spPr>
          <a:xfrm>
            <a:off x="-1748590" y="1408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45F349-57A1-CDC6-9406-E75745FAF88B}"/>
              </a:ext>
            </a:extLst>
          </p:cNvPr>
          <p:cNvSpPr txBox="1"/>
          <p:nvPr/>
        </p:nvSpPr>
        <p:spPr>
          <a:xfrm>
            <a:off x="838199" y="4344253"/>
            <a:ext cx="435895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</a:p>
          <a:p>
            <a:r>
              <a:rPr lang="en-US" sz="2000" b="1" dirty="0">
                <a:solidFill>
                  <a:srgbClr val="FF9B54"/>
                </a:solidFill>
              </a:rPr>
              <a:t>NUMERICS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NumPy</a:t>
            </a:r>
            <a:endParaRPr lang="en-US" sz="1800" dirty="0"/>
          </a:p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Cosine similarity calculations, array operations, feature normalization.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AADC30-95F4-85FB-C998-611DADCE2B10}"/>
              </a:ext>
            </a:extLst>
          </p:cNvPr>
          <p:cNvSpPr txBox="1"/>
          <p:nvPr/>
        </p:nvSpPr>
        <p:spPr>
          <a:xfrm>
            <a:off x="6913984" y="4340242"/>
            <a:ext cx="4805265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</a:p>
          <a:p>
            <a:r>
              <a:rPr lang="en-US" sz="2000" b="1" dirty="0">
                <a:solidFill>
                  <a:srgbClr val="9B59B6"/>
                </a:solidFill>
              </a:rPr>
              <a:t>STORAGE</a:t>
            </a:r>
            <a:endParaRPr lang="en-US" sz="2000" dirty="0"/>
          </a:p>
          <a:p>
            <a:r>
              <a:rPr lang="en-US" sz="2000" b="1" dirty="0">
                <a:solidFill>
                  <a:srgbClr val="FFFFFF"/>
                </a:solidFill>
              </a:rPr>
              <a:t>JSON / hash lib</a:t>
            </a:r>
            <a:endParaRPr lang="en-US" sz="2000" dirty="0"/>
          </a:p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User database persistence with SHA-256 hashed usernames for privacy.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63" y="273463"/>
            <a:ext cx="10360152" cy="914400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Prompts Used to Generate Code  (1/2)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557" y="1494044"/>
            <a:ext cx="5502443" cy="193495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rgbClr val="00B4D8"/>
                </a:solidFill>
              </a:rPr>
              <a:t>P1</a:t>
            </a:r>
            <a:r>
              <a:rPr lang="en-US" sz="8000" dirty="0"/>
              <a:t>  </a:t>
            </a:r>
            <a:r>
              <a:rPr lang="en-US" sz="8000" b="1" dirty="0">
                <a:solidFill>
                  <a:srgbClr val="00B4D8"/>
                </a:solidFill>
              </a:rPr>
              <a:t>System Design</a:t>
            </a:r>
            <a:endParaRPr lang="en-US" sz="8000" dirty="0"/>
          </a:p>
          <a:p>
            <a:pPr marL="0" indent="0">
              <a:buNone/>
            </a:pPr>
            <a:r>
              <a:rPr lang="en-US" sz="8000" dirty="0"/>
              <a:t>"Build a gesture-based authentication system in Python using Media Pipe Hands and OpenCV. Include user registration, login with cosine similarity matching, and a JSON database. Capture 3 seconds of hand gesture per session and normalize landmarks relative to the wrist."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798761A-B671-4825-623F-F4726F2BDF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6110" y="3303111"/>
            <a:ext cx="4837938" cy="1718067"/>
          </a:xfrm>
        </p:spPr>
        <p:txBody>
          <a:bodyPr>
            <a:normAutofit fontScale="55000" lnSpcReduction="20000"/>
          </a:bodyPr>
          <a:lstStyle/>
          <a:p>
            <a:r>
              <a:rPr lang="en-US" sz="3600" b="1" dirty="0">
                <a:solidFill>
                  <a:srgbClr val="00B4D8"/>
                </a:solidFill>
              </a:rPr>
              <a:t>P2   Feature Extraction</a:t>
            </a:r>
          </a:p>
          <a:p>
            <a:r>
              <a:rPr lang="en-US" sz="3600" dirty="0"/>
              <a:t>"Write a Python function that takes a Media Pipe hand landmarks object and returns a normalized 63-dimensional feature vector. Normalize relative to wrist position and scale by the wrist-to-middle-MCP distance for translation and size invariance."</a:t>
            </a:r>
          </a:p>
          <a:p>
            <a:endParaRPr lang="en-US" sz="2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ECD81-685E-FAF9-D459-7F89A304AB12}"/>
              </a:ext>
            </a:extLst>
          </p:cNvPr>
          <p:cNvSpPr txBox="1"/>
          <p:nvPr/>
        </p:nvSpPr>
        <p:spPr>
          <a:xfrm>
            <a:off x="-2085475" y="1766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AI PROMPTS</a:t>
            </a:r>
            <a:endParaRPr lang="en-US" sz="18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F59B34DD-7E9A-C733-395A-5AF974CED52A}"/>
              </a:ext>
            </a:extLst>
          </p:cNvPr>
          <p:cNvSpPr/>
          <p:nvPr/>
        </p:nvSpPr>
        <p:spPr>
          <a:xfrm>
            <a:off x="339368" y="4517820"/>
            <a:ext cx="74193" cy="1430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0CA894-9600-47FF-DDD4-0AEA0172324D}"/>
              </a:ext>
            </a:extLst>
          </p:cNvPr>
          <p:cNvSpPr txBox="1"/>
          <p:nvPr/>
        </p:nvSpPr>
        <p:spPr>
          <a:xfrm>
            <a:off x="593557" y="4535139"/>
            <a:ext cx="55024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4D8"/>
                </a:solidFill>
              </a:rPr>
              <a:t>P3     Similarity Algorithm</a:t>
            </a:r>
            <a:endParaRPr lang="en-US" sz="2000" dirty="0"/>
          </a:p>
          <a:p>
            <a:r>
              <a:rPr lang="en-US" sz="2000" dirty="0"/>
              <a:t>"Implement a gesture similarity() function that computes mean cosine similarity between two variable-length sequences of landmark feature vectors using frame resampling to 30 reference points. Return a float in [0,1]."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262383B-70C2-65E1-E223-59A17BBDA148}"/>
              </a:ext>
            </a:extLst>
          </p:cNvPr>
          <p:cNvSpPr/>
          <p:nvPr/>
        </p:nvSpPr>
        <p:spPr>
          <a:xfrm>
            <a:off x="302272" y="1494044"/>
            <a:ext cx="74193" cy="1430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67BE2CA6-243D-BFA4-9457-0EFC3E8EC6F3}"/>
              </a:ext>
            </a:extLst>
          </p:cNvPr>
          <p:cNvSpPr/>
          <p:nvPr/>
        </p:nvSpPr>
        <p:spPr>
          <a:xfrm>
            <a:off x="6740168" y="3303111"/>
            <a:ext cx="74193" cy="1430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11150-4AC7-2A48-CBD7-B372D0BE4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7F5B0F08-880C-6DDD-1B70-0A5504F3B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" y="167378"/>
            <a:ext cx="10360152" cy="914400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Prompts Used to Generate Code  (2/2)</a:t>
            </a:r>
            <a:endParaRPr lang="en-US" dirty="0"/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520C3E6F-A90B-D89C-1D04-E5433A5A42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557" y="1494044"/>
            <a:ext cx="5502443" cy="1514332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6200" b="1" dirty="0">
                <a:solidFill>
                  <a:srgbClr val="00B4D8"/>
                </a:solidFill>
              </a:rPr>
              <a:t>P4</a:t>
            </a:r>
            <a:r>
              <a:rPr lang="en-US" sz="6200" dirty="0"/>
              <a:t>      </a:t>
            </a:r>
            <a:r>
              <a:rPr lang="en-US" sz="6200" b="1" dirty="0">
                <a:solidFill>
                  <a:srgbClr val="00B4D8"/>
                </a:solidFill>
              </a:rPr>
              <a:t>Dual Registration</a:t>
            </a:r>
            <a:endParaRPr lang="en-US" sz="6200" dirty="0"/>
          </a:p>
          <a:p>
            <a:pPr marL="0" indent="0">
              <a:buNone/>
            </a:pPr>
            <a:r>
              <a:rPr lang="en-US" sz="6200" i="1" dirty="0">
                <a:solidFill>
                  <a:schemeClr val="accent6">
                    <a:lumMod val="10000"/>
                  </a:schemeClr>
                </a:solidFill>
              </a:rPr>
              <a:t>"Modify the register() function to capture the gesture twice and compute a consistency score. If the score is below 0.75, reject registration. Store both captures as primary and secondary templates in the database."</a:t>
            </a:r>
            <a:endParaRPr lang="en-US" sz="6200" dirty="0">
              <a:solidFill>
                <a:schemeClr val="accent6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Content Placeholder 24">
            <a:extLst>
              <a:ext uri="{FF2B5EF4-FFF2-40B4-BE49-F238E27FC236}">
                <a16:creationId xmlns:a16="http://schemas.microsoft.com/office/drawing/2014/main" id="{209C8FD6-39C2-3937-6FC0-49782911D7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6110" y="3303112"/>
            <a:ext cx="4837938" cy="1408176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>
                <a:solidFill>
                  <a:srgbClr val="00B4D8"/>
                </a:solidFill>
              </a:rPr>
              <a:t>P5      Lockout Logic</a:t>
            </a:r>
          </a:p>
          <a:p>
            <a:r>
              <a:rPr lang="en-US" sz="8000" i="1" dirty="0">
                <a:solidFill>
                  <a:schemeClr val="accent6">
                    <a:lumMod val="10000"/>
                  </a:schemeClr>
                </a:solidFill>
              </a:rPr>
              <a:t>"Add a failed-attempt counter and account lockout mechanism. After 3 failed login attempts, mark the user account as locked in the JSON database. Provide an admin unlock user() function to reset the counter and unlock the account."</a:t>
            </a:r>
            <a:endParaRPr lang="en-US" sz="8000" dirty="0">
              <a:solidFill>
                <a:schemeClr val="accent6">
                  <a:lumMod val="10000"/>
                </a:schemeClr>
              </a:solidFill>
            </a:endParaRPr>
          </a:p>
          <a:p>
            <a:endParaRPr lang="en-US" sz="2900" dirty="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EE629557-5291-F1FE-0BC3-A392DFCD5F26}"/>
              </a:ext>
            </a:extLst>
          </p:cNvPr>
          <p:cNvSpPr txBox="1">
            <a:spLocks/>
          </p:cNvSpPr>
          <p:nvPr/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2400" b="0" i="0" kern="1200">
                <a:solidFill>
                  <a:schemeClr val="tx1"/>
                </a:solidFill>
                <a:latin typeface="Sagona Book" panose="02020503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FE22AD-A351-7EA7-9D13-EECD2339A72C}"/>
              </a:ext>
            </a:extLst>
          </p:cNvPr>
          <p:cNvSpPr txBox="1"/>
          <p:nvPr/>
        </p:nvSpPr>
        <p:spPr>
          <a:xfrm>
            <a:off x="-2133601" y="2552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AI PROMPTS</a:t>
            </a:r>
            <a:endParaRPr lang="en-US" sz="18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EEDB4D9E-AD8F-4163-64B7-DF2DB1C824AE}"/>
              </a:ext>
            </a:extLst>
          </p:cNvPr>
          <p:cNvSpPr/>
          <p:nvPr/>
        </p:nvSpPr>
        <p:spPr>
          <a:xfrm>
            <a:off x="6632207" y="3303112"/>
            <a:ext cx="64008" cy="12147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44842996-CF67-0256-517C-6A1E818E69EB}"/>
              </a:ext>
            </a:extLst>
          </p:cNvPr>
          <p:cNvSpPr/>
          <p:nvPr/>
        </p:nvSpPr>
        <p:spPr>
          <a:xfrm>
            <a:off x="339369" y="4535139"/>
            <a:ext cx="74193" cy="1430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07F41F-D20B-DDE7-4500-7741D0C87CED}"/>
              </a:ext>
            </a:extLst>
          </p:cNvPr>
          <p:cNvSpPr txBox="1"/>
          <p:nvPr/>
        </p:nvSpPr>
        <p:spPr>
          <a:xfrm>
            <a:off x="593557" y="4535139"/>
            <a:ext cx="5502443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4D8"/>
                </a:solidFill>
              </a:rPr>
              <a:t>P6     UI Overlay</a:t>
            </a:r>
            <a:endParaRPr lang="en-US" sz="2000" dirty="0"/>
          </a:p>
          <a:p>
            <a:r>
              <a:rPr lang="en-US" sz="2000" i="1" dirty="0">
                <a:solidFill>
                  <a:schemeClr val="accent6">
                    <a:lumMod val="10000"/>
                  </a:schemeClr>
                </a:solidFill>
              </a:rPr>
              <a:t>"Enhance the OpenCV capture window with: a semi-transparent header bar showing the current prompt, a real-time progress bar filling from left to right over 3 seconds, a countdown timer in the lower left, and color-coded status text for hand detected vs not detected states."</a:t>
            </a:r>
            <a:endParaRPr lang="en-US" sz="2000" dirty="0">
              <a:solidFill>
                <a:schemeClr val="accent6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FF654120-CAC4-CDD6-1D35-AAD878CEDD50}"/>
              </a:ext>
            </a:extLst>
          </p:cNvPr>
          <p:cNvSpPr/>
          <p:nvPr/>
        </p:nvSpPr>
        <p:spPr>
          <a:xfrm>
            <a:off x="339369" y="1377826"/>
            <a:ext cx="74193" cy="1430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03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263F-7B72-D590-7A8D-93B8190F2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3D25F5B-5DED-0B44-811B-F7B770901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69" y="618737"/>
            <a:ext cx="10360152" cy="914400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Prompts Used to Generate Code  (3/2)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585765E-2BD6-6027-0FEB-6957D744171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557" y="2578184"/>
            <a:ext cx="5502443" cy="17016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P7</a:t>
            </a:r>
            <a:r>
              <a:rPr lang="en-US" sz="2200" dirty="0"/>
              <a:t>    </a:t>
            </a:r>
            <a:r>
              <a:rPr lang="en-US" sz="2200" b="1" dirty="0">
                <a:solidFill>
                  <a:srgbClr val="00B4D8"/>
                </a:solidFill>
              </a:rPr>
              <a:t>Admin Panel</a:t>
            </a:r>
            <a:r>
              <a:rPr lang="en-US" sz="2200" dirty="0"/>
              <a:t>   </a:t>
            </a:r>
          </a:p>
          <a:p>
            <a:pPr marL="0" indent="0">
              <a:buNone/>
            </a:pPr>
            <a:r>
              <a:rPr lang="en-US" sz="2200" dirty="0"/>
              <a:t>"Create a list users() CLI admin function that prints a formatted table of all registered users showing: username, registration datetime, failed attempt count, and account status (Active / LOCKED) using emoji indicators."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6CDEE-699E-F137-0476-E299BA2CE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5122E-D4FA-8004-5347-E400FD0A8111}"/>
              </a:ext>
            </a:extLst>
          </p:cNvPr>
          <p:cNvSpPr txBox="1"/>
          <p:nvPr/>
        </p:nvSpPr>
        <p:spPr>
          <a:xfrm>
            <a:off x="-2120901" y="4340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AI PROMPTS</a:t>
            </a:r>
            <a:endParaRPr lang="en-US" sz="18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D37A280-FAC8-2E4B-332E-F5546BA19F39}"/>
              </a:ext>
            </a:extLst>
          </p:cNvPr>
          <p:cNvSpPr/>
          <p:nvPr/>
        </p:nvSpPr>
        <p:spPr>
          <a:xfrm>
            <a:off x="339369" y="2538476"/>
            <a:ext cx="64008" cy="12147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741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439913"/>
            <a:ext cx="10360152" cy="914400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System Workflow Flowchart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9B0A2-7585-A352-9F57-715918453374}"/>
              </a:ext>
            </a:extLst>
          </p:cNvPr>
          <p:cNvSpPr txBox="1"/>
          <p:nvPr/>
        </p:nvSpPr>
        <p:spPr>
          <a:xfrm>
            <a:off x="-1727200" y="2552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SYSTEM WORKFLOW</a:t>
            </a:r>
            <a:endParaRPr lang="en-US" sz="1800" dirty="0"/>
          </a:p>
        </p:txBody>
      </p:sp>
      <p:sp>
        <p:nvSpPr>
          <p:cNvPr id="70" name="Shape 4">
            <a:extLst>
              <a:ext uri="{FF2B5EF4-FFF2-40B4-BE49-F238E27FC236}">
                <a16:creationId xmlns:a16="http://schemas.microsoft.com/office/drawing/2014/main" id="{C4B968A7-BB29-7C9F-55C1-4A1E8F023ACD}"/>
              </a:ext>
            </a:extLst>
          </p:cNvPr>
          <p:cNvSpPr/>
          <p:nvPr/>
        </p:nvSpPr>
        <p:spPr>
          <a:xfrm>
            <a:off x="1889760" y="1933956"/>
            <a:ext cx="3749040" cy="347472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8CC775DB-8E4A-9EE7-8220-6DCE8E5EE714}"/>
              </a:ext>
            </a:extLst>
          </p:cNvPr>
          <p:cNvSpPr/>
          <p:nvPr/>
        </p:nvSpPr>
        <p:spPr>
          <a:xfrm>
            <a:off x="1889760" y="19339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REGISTRATION FLOW</a:t>
            </a:r>
            <a:endParaRPr lang="en-US" sz="1000" dirty="0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42526371-9CF3-C7E9-02D1-1D3F59631CAB}"/>
              </a:ext>
            </a:extLst>
          </p:cNvPr>
          <p:cNvSpPr/>
          <p:nvPr/>
        </p:nvSpPr>
        <p:spPr>
          <a:xfrm>
            <a:off x="6553200" y="1933956"/>
            <a:ext cx="3749040" cy="347472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">
            <a:extLst>
              <a:ext uri="{FF2B5EF4-FFF2-40B4-BE49-F238E27FC236}">
                <a16:creationId xmlns:a16="http://schemas.microsoft.com/office/drawing/2014/main" id="{A181DF9B-066E-B792-BAC4-425983803608}"/>
              </a:ext>
            </a:extLst>
          </p:cNvPr>
          <p:cNvSpPr/>
          <p:nvPr/>
        </p:nvSpPr>
        <p:spPr>
          <a:xfrm>
            <a:off x="6553200" y="19339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LOGIN FLOW</a:t>
            </a:r>
            <a:endParaRPr lang="en-US" sz="1000" dirty="0"/>
          </a:p>
        </p:txBody>
      </p:sp>
      <p:sp>
        <p:nvSpPr>
          <p:cNvPr id="74" name="Shape 8">
            <a:extLst>
              <a:ext uri="{FF2B5EF4-FFF2-40B4-BE49-F238E27FC236}">
                <a16:creationId xmlns:a16="http://schemas.microsoft.com/office/drawing/2014/main" id="{DC42A71A-8661-A4BD-26A5-4E23B1259D68}"/>
              </a:ext>
            </a:extLst>
          </p:cNvPr>
          <p:cNvSpPr/>
          <p:nvPr/>
        </p:nvSpPr>
        <p:spPr>
          <a:xfrm>
            <a:off x="6050280" y="1933956"/>
            <a:ext cx="91440" cy="3931920"/>
          </a:xfrm>
          <a:prstGeom prst="rect">
            <a:avLst/>
          </a:prstGeom>
          <a:solidFill>
            <a:srgbClr val="8B9EB7">
              <a:alpha val="40000"/>
            </a:srgbClr>
          </a:solidFill>
          <a:ln w="12700">
            <a:solidFill>
              <a:srgbClr val="8B9E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E9CE9B29-D6D0-F988-1E77-AE295C87CD29}"/>
              </a:ext>
            </a:extLst>
          </p:cNvPr>
          <p:cNvSpPr/>
          <p:nvPr/>
        </p:nvSpPr>
        <p:spPr>
          <a:xfrm>
            <a:off x="2164080" y="239115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👤  Enter Username</a:t>
            </a:r>
          </a:p>
        </p:txBody>
      </p:sp>
      <p:sp>
        <p:nvSpPr>
          <p:cNvPr id="81" name="Text 15">
            <a:extLst>
              <a:ext uri="{FF2B5EF4-FFF2-40B4-BE49-F238E27FC236}">
                <a16:creationId xmlns:a16="http://schemas.microsoft.com/office/drawing/2014/main" id="{F714C42B-D321-89C2-94B9-51A3F07E1190}"/>
              </a:ext>
            </a:extLst>
          </p:cNvPr>
          <p:cNvSpPr/>
          <p:nvPr/>
        </p:nvSpPr>
        <p:spPr>
          <a:xfrm>
            <a:off x="2164080" y="304952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🤚  Capture Gesture (1/2)</a:t>
            </a:r>
          </a:p>
        </p:txBody>
      </p:sp>
      <p:sp>
        <p:nvSpPr>
          <p:cNvPr id="85" name="Text 19">
            <a:extLst>
              <a:ext uri="{FF2B5EF4-FFF2-40B4-BE49-F238E27FC236}">
                <a16:creationId xmlns:a16="http://schemas.microsoft.com/office/drawing/2014/main" id="{CB6787F3-EC6A-B94F-5A29-41281D1D45AF}"/>
              </a:ext>
            </a:extLst>
          </p:cNvPr>
          <p:cNvSpPr/>
          <p:nvPr/>
        </p:nvSpPr>
        <p:spPr>
          <a:xfrm>
            <a:off x="2164080" y="370789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🔁  Capture Gesture (2/2)</a:t>
            </a:r>
          </a:p>
        </p:txBody>
      </p:sp>
      <p:sp>
        <p:nvSpPr>
          <p:cNvPr id="89" name="Text 23">
            <a:extLst>
              <a:ext uri="{FF2B5EF4-FFF2-40B4-BE49-F238E27FC236}">
                <a16:creationId xmlns:a16="http://schemas.microsoft.com/office/drawing/2014/main" id="{F55968E7-2350-9521-F1E7-7BAF704A9DDC}"/>
              </a:ext>
            </a:extLst>
          </p:cNvPr>
          <p:cNvSpPr/>
          <p:nvPr/>
        </p:nvSpPr>
        <p:spPr>
          <a:xfrm>
            <a:off x="2164080" y="43662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📊  Consistency Check ≥ 0.75?</a:t>
            </a:r>
          </a:p>
        </p:txBody>
      </p:sp>
      <p:sp>
        <p:nvSpPr>
          <p:cNvPr id="93" name="Text 27">
            <a:extLst>
              <a:ext uri="{FF2B5EF4-FFF2-40B4-BE49-F238E27FC236}">
                <a16:creationId xmlns:a16="http://schemas.microsoft.com/office/drawing/2014/main" id="{F1B05C13-062E-CE99-8D1B-AA167A3D91C8}"/>
              </a:ext>
            </a:extLst>
          </p:cNvPr>
          <p:cNvSpPr/>
          <p:nvPr/>
        </p:nvSpPr>
        <p:spPr>
          <a:xfrm>
            <a:off x="2164080" y="502462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💾  Save to JSON Database</a:t>
            </a:r>
          </a:p>
        </p:txBody>
      </p:sp>
      <p:sp>
        <p:nvSpPr>
          <p:cNvPr id="96" name="Text 30">
            <a:extLst>
              <a:ext uri="{FF2B5EF4-FFF2-40B4-BE49-F238E27FC236}">
                <a16:creationId xmlns:a16="http://schemas.microsoft.com/office/drawing/2014/main" id="{1BDAAFEE-C879-229D-5E9E-1785FF1CA3DD}"/>
              </a:ext>
            </a:extLst>
          </p:cNvPr>
          <p:cNvSpPr/>
          <p:nvPr/>
        </p:nvSpPr>
        <p:spPr>
          <a:xfrm>
            <a:off x="6827520" y="239115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👤  Enter Username</a:t>
            </a:r>
          </a:p>
        </p:txBody>
      </p:sp>
      <p:sp>
        <p:nvSpPr>
          <p:cNvPr id="100" name="Text 34">
            <a:extLst>
              <a:ext uri="{FF2B5EF4-FFF2-40B4-BE49-F238E27FC236}">
                <a16:creationId xmlns:a16="http://schemas.microsoft.com/office/drawing/2014/main" id="{3A2E8649-529D-6320-D746-E0FF44EDB40C}"/>
              </a:ext>
            </a:extLst>
          </p:cNvPr>
          <p:cNvSpPr/>
          <p:nvPr/>
        </p:nvSpPr>
        <p:spPr>
          <a:xfrm>
            <a:off x="6827520" y="304952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🔍  Lookup User in DB</a:t>
            </a:r>
          </a:p>
        </p:txBody>
      </p:sp>
      <p:sp>
        <p:nvSpPr>
          <p:cNvPr id="104" name="Text 38">
            <a:extLst>
              <a:ext uri="{FF2B5EF4-FFF2-40B4-BE49-F238E27FC236}">
                <a16:creationId xmlns:a16="http://schemas.microsoft.com/office/drawing/2014/main" id="{7836F353-5CA4-7D3A-249A-600559C1E14C}"/>
              </a:ext>
            </a:extLst>
          </p:cNvPr>
          <p:cNvSpPr/>
          <p:nvPr/>
        </p:nvSpPr>
        <p:spPr>
          <a:xfrm>
            <a:off x="6827520" y="370789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🤚  Capture Live Gesture</a:t>
            </a:r>
          </a:p>
        </p:txBody>
      </p:sp>
      <p:sp>
        <p:nvSpPr>
          <p:cNvPr id="108" name="Text 42">
            <a:extLst>
              <a:ext uri="{FF2B5EF4-FFF2-40B4-BE49-F238E27FC236}">
                <a16:creationId xmlns:a16="http://schemas.microsoft.com/office/drawing/2014/main" id="{4F1F815F-7616-E8A7-6722-057F96F3DD45}"/>
              </a:ext>
            </a:extLst>
          </p:cNvPr>
          <p:cNvSpPr/>
          <p:nvPr/>
        </p:nvSpPr>
        <p:spPr>
          <a:xfrm>
            <a:off x="6827520" y="43662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📏  Cosine Similarity Score</a:t>
            </a:r>
          </a:p>
        </p:txBody>
      </p:sp>
      <p:sp>
        <p:nvSpPr>
          <p:cNvPr id="112" name="Text 46">
            <a:extLst>
              <a:ext uri="{FF2B5EF4-FFF2-40B4-BE49-F238E27FC236}">
                <a16:creationId xmlns:a16="http://schemas.microsoft.com/office/drawing/2014/main" id="{AB65F7A0-DAD3-5BC9-DCDD-960F349AC07E}"/>
              </a:ext>
            </a:extLst>
          </p:cNvPr>
          <p:cNvSpPr/>
          <p:nvPr/>
        </p:nvSpPr>
        <p:spPr>
          <a:xfrm>
            <a:off x="6827520" y="5083683"/>
            <a:ext cx="3200400" cy="50749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✅  Score ≥ 0.82 → ACCESS GRANTED</a:t>
            </a:r>
          </a:p>
        </p:txBody>
      </p:sp>
      <p:sp>
        <p:nvSpPr>
          <p:cNvPr id="113" name="Text 47">
            <a:extLst>
              <a:ext uri="{FF2B5EF4-FFF2-40B4-BE49-F238E27FC236}">
                <a16:creationId xmlns:a16="http://schemas.microsoft.com/office/drawing/2014/main" id="{0ADDC975-C4E9-EC96-E1F5-33A90FFD2815}"/>
              </a:ext>
            </a:extLst>
          </p:cNvPr>
          <p:cNvSpPr/>
          <p:nvPr/>
        </p:nvSpPr>
        <p:spPr>
          <a:xfrm>
            <a:off x="6690360" y="57012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EF476F"/>
                </a:solidFill>
              </a:rPr>
              <a:t>❌ Fail → Retry / Lockout after 3 attempts</a:t>
            </a:r>
            <a:endParaRPr lang="en-US" sz="900" dirty="0"/>
          </a:p>
        </p:txBody>
      </p:sp>
      <p:sp>
        <p:nvSpPr>
          <p:cNvPr id="114" name="Arrow: Down 113">
            <a:extLst>
              <a:ext uri="{FF2B5EF4-FFF2-40B4-BE49-F238E27FC236}">
                <a16:creationId xmlns:a16="http://schemas.microsoft.com/office/drawing/2014/main" id="{60BA913A-A6E9-1CA5-5510-38CABEFFE2A5}"/>
              </a:ext>
            </a:extLst>
          </p:cNvPr>
          <p:cNvSpPr/>
          <p:nvPr/>
        </p:nvSpPr>
        <p:spPr>
          <a:xfrm>
            <a:off x="3190875" y="2786444"/>
            <a:ext cx="484632" cy="343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Arrow: Down 119">
            <a:extLst>
              <a:ext uri="{FF2B5EF4-FFF2-40B4-BE49-F238E27FC236}">
                <a16:creationId xmlns:a16="http://schemas.microsoft.com/office/drawing/2014/main" id="{2F3A99D0-8263-6970-BF2D-1CF980A6E238}"/>
              </a:ext>
            </a:extLst>
          </p:cNvPr>
          <p:cNvSpPr/>
          <p:nvPr/>
        </p:nvSpPr>
        <p:spPr>
          <a:xfrm>
            <a:off x="7849743" y="4719066"/>
            <a:ext cx="484632" cy="343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Arrow: Down 120">
            <a:extLst>
              <a:ext uri="{FF2B5EF4-FFF2-40B4-BE49-F238E27FC236}">
                <a16:creationId xmlns:a16="http://schemas.microsoft.com/office/drawing/2014/main" id="{8E7D4992-32D2-D7C4-D79B-7E11D306DBE6}"/>
              </a:ext>
            </a:extLst>
          </p:cNvPr>
          <p:cNvSpPr/>
          <p:nvPr/>
        </p:nvSpPr>
        <p:spPr>
          <a:xfrm>
            <a:off x="7849743" y="4133850"/>
            <a:ext cx="484632" cy="343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2" name="Arrow: Down 121">
            <a:extLst>
              <a:ext uri="{FF2B5EF4-FFF2-40B4-BE49-F238E27FC236}">
                <a16:creationId xmlns:a16="http://schemas.microsoft.com/office/drawing/2014/main" id="{C4E3BD2E-6CD7-C299-07EC-F638F7304DC4}"/>
              </a:ext>
            </a:extLst>
          </p:cNvPr>
          <p:cNvSpPr/>
          <p:nvPr/>
        </p:nvSpPr>
        <p:spPr>
          <a:xfrm>
            <a:off x="7879461" y="3481387"/>
            <a:ext cx="484632" cy="343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Arrow: Down 122">
            <a:extLst>
              <a:ext uri="{FF2B5EF4-FFF2-40B4-BE49-F238E27FC236}">
                <a16:creationId xmlns:a16="http://schemas.microsoft.com/office/drawing/2014/main" id="{8A094278-3898-B6B4-080C-FB8F5B81FE13}"/>
              </a:ext>
            </a:extLst>
          </p:cNvPr>
          <p:cNvSpPr/>
          <p:nvPr/>
        </p:nvSpPr>
        <p:spPr>
          <a:xfrm>
            <a:off x="7849743" y="2804731"/>
            <a:ext cx="484632" cy="343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Arrow: Down 123">
            <a:extLst>
              <a:ext uri="{FF2B5EF4-FFF2-40B4-BE49-F238E27FC236}">
                <a16:creationId xmlns:a16="http://schemas.microsoft.com/office/drawing/2014/main" id="{1E175CCB-F651-64D5-D6F2-17FFCA4E6E9A}"/>
              </a:ext>
            </a:extLst>
          </p:cNvPr>
          <p:cNvSpPr/>
          <p:nvPr/>
        </p:nvSpPr>
        <p:spPr>
          <a:xfrm>
            <a:off x="3190875" y="3515963"/>
            <a:ext cx="484632" cy="343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Arrow: Down 124">
            <a:extLst>
              <a:ext uri="{FF2B5EF4-FFF2-40B4-BE49-F238E27FC236}">
                <a16:creationId xmlns:a16="http://schemas.microsoft.com/office/drawing/2014/main" id="{0ABCE457-BD5A-3D83-0CD9-EEBABEBD4371}"/>
              </a:ext>
            </a:extLst>
          </p:cNvPr>
          <p:cNvSpPr/>
          <p:nvPr/>
        </p:nvSpPr>
        <p:spPr>
          <a:xfrm>
            <a:off x="3190875" y="4133850"/>
            <a:ext cx="484632" cy="343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6" name="Arrow: Down 125">
            <a:extLst>
              <a:ext uri="{FF2B5EF4-FFF2-40B4-BE49-F238E27FC236}">
                <a16:creationId xmlns:a16="http://schemas.microsoft.com/office/drawing/2014/main" id="{E06EE6C2-C1D7-3B1D-AC24-B1FA810B1558}"/>
              </a:ext>
            </a:extLst>
          </p:cNvPr>
          <p:cNvSpPr/>
          <p:nvPr/>
        </p:nvSpPr>
        <p:spPr>
          <a:xfrm>
            <a:off x="3190875" y="4808029"/>
            <a:ext cx="484632" cy="343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93700"/>
            <a:ext cx="10360152" cy="914400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Application User Interface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E21F1-5347-A145-6D5A-81EC3E1604D6}"/>
              </a:ext>
            </a:extLst>
          </p:cNvPr>
          <p:cNvSpPr txBox="1"/>
          <p:nvPr/>
        </p:nvSpPr>
        <p:spPr>
          <a:xfrm>
            <a:off x="-1647952" y="2090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UI / FRONTEND VIEW</a:t>
            </a:r>
            <a:endParaRPr lang="en-US" sz="1800" dirty="0"/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6A078068-56F3-73EA-D22B-3F67E5D4099D}"/>
              </a:ext>
            </a:extLst>
          </p:cNvPr>
          <p:cNvSpPr/>
          <p:nvPr/>
        </p:nvSpPr>
        <p:spPr>
          <a:xfrm>
            <a:off x="1708203" y="2067774"/>
            <a:ext cx="4572000" cy="3474720"/>
          </a:xfrm>
          <a:prstGeom prst="rect">
            <a:avLst/>
          </a:prstGeom>
          <a:solidFill>
            <a:srgbClr val="050D18"/>
          </a:solidFill>
          <a:ln w="12700">
            <a:solidFill>
              <a:srgbClr val="0F2D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2" name="Shape 5">
            <a:extLst>
              <a:ext uri="{FF2B5EF4-FFF2-40B4-BE49-F238E27FC236}">
                <a16:creationId xmlns:a16="http://schemas.microsoft.com/office/drawing/2014/main" id="{DDD368F0-C72F-1422-DC23-9BFC34AD673D}"/>
              </a:ext>
            </a:extLst>
          </p:cNvPr>
          <p:cNvSpPr/>
          <p:nvPr/>
        </p:nvSpPr>
        <p:spPr>
          <a:xfrm>
            <a:off x="1708203" y="2067774"/>
            <a:ext cx="4572000" cy="548640"/>
          </a:xfrm>
          <a:prstGeom prst="rect">
            <a:avLst/>
          </a:prstGeom>
          <a:solidFill>
            <a:srgbClr val="14141E"/>
          </a:solidFill>
          <a:ln w="12700">
            <a:solidFill>
              <a:srgbClr val="14141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097B0BF0-01A9-FBD0-8D8F-4682BE050852}"/>
              </a:ext>
            </a:extLst>
          </p:cNvPr>
          <p:cNvSpPr/>
          <p:nvPr/>
        </p:nvSpPr>
        <p:spPr>
          <a:xfrm>
            <a:off x="1708202" y="2050288"/>
            <a:ext cx="4572000" cy="5295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        Gesture Auth  —  LOGIN — Show your gesture</a:t>
            </a:r>
            <a:endParaRPr lang="en-US" sz="900" dirty="0"/>
          </a:p>
        </p:txBody>
      </p:sp>
      <p:sp>
        <p:nvSpPr>
          <p:cNvPr id="64" name="Shape 7">
            <a:extLst>
              <a:ext uri="{FF2B5EF4-FFF2-40B4-BE49-F238E27FC236}">
                <a16:creationId xmlns:a16="http://schemas.microsoft.com/office/drawing/2014/main" id="{3678304D-9A72-AD17-BF93-BBE19201500E}"/>
              </a:ext>
            </a:extLst>
          </p:cNvPr>
          <p:cNvSpPr/>
          <p:nvPr/>
        </p:nvSpPr>
        <p:spPr>
          <a:xfrm>
            <a:off x="4098036" y="439369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8">
            <a:extLst>
              <a:ext uri="{FF2B5EF4-FFF2-40B4-BE49-F238E27FC236}">
                <a16:creationId xmlns:a16="http://schemas.microsoft.com/office/drawing/2014/main" id="{0575743C-6BD9-48D2-EC59-549DB6D80F05}"/>
              </a:ext>
            </a:extLst>
          </p:cNvPr>
          <p:cNvSpPr/>
          <p:nvPr/>
        </p:nvSpPr>
        <p:spPr>
          <a:xfrm>
            <a:off x="3960876" y="402793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383AEE56-1A29-7008-F7DC-973F6E619055}"/>
              </a:ext>
            </a:extLst>
          </p:cNvPr>
          <p:cNvSpPr/>
          <p:nvPr/>
        </p:nvSpPr>
        <p:spPr>
          <a:xfrm>
            <a:off x="3869436" y="366217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10">
            <a:extLst>
              <a:ext uri="{FF2B5EF4-FFF2-40B4-BE49-F238E27FC236}">
                <a16:creationId xmlns:a16="http://schemas.microsoft.com/office/drawing/2014/main" id="{E1B100A4-6784-25CB-0F2A-E10F625CE593}"/>
              </a:ext>
            </a:extLst>
          </p:cNvPr>
          <p:cNvSpPr/>
          <p:nvPr/>
        </p:nvSpPr>
        <p:spPr>
          <a:xfrm>
            <a:off x="3823716" y="334213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11">
            <a:extLst>
              <a:ext uri="{FF2B5EF4-FFF2-40B4-BE49-F238E27FC236}">
                <a16:creationId xmlns:a16="http://schemas.microsoft.com/office/drawing/2014/main" id="{A2AC952A-44DD-62B9-8D0D-D2E976277945}"/>
              </a:ext>
            </a:extLst>
          </p:cNvPr>
          <p:cNvSpPr/>
          <p:nvPr/>
        </p:nvSpPr>
        <p:spPr>
          <a:xfrm>
            <a:off x="3777996" y="306781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F8FCA765-80A6-3DE1-2995-D992A1C3FB24}"/>
              </a:ext>
            </a:extLst>
          </p:cNvPr>
          <p:cNvSpPr/>
          <p:nvPr/>
        </p:nvSpPr>
        <p:spPr>
          <a:xfrm>
            <a:off x="4143756" y="338785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13">
            <a:extLst>
              <a:ext uri="{FF2B5EF4-FFF2-40B4-BE49-F238E27FC236}">
                <a16:creationId xmlns:a16="http://schemas.microsoft.com/office/drawing/2014/main" id="{AC934554-BB6F-66F9-AE96-6F95F0EB4F81}"/>
              </a:ext>
            </a:extLst>
          </p:cNvPr>
          <p:cNvSpPr/>
          <p:nvPr/>
        </p:nvSpPr>
        <p:spPr>
          <a:xfrm>
            <a:off x="4143756" y="302209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DC9FF12C-8CB5-D03A-30FF-ADD0FEDCD767}"/>
              </a:ext>
            </a:extLst>
          </p:cNvPr>
          <p:cNvSpPr/>
          <p:nvPr/>
        </p:nvSpPr>
        <p:spPr>
          <a:xfrm>
            <a:off x="4143756" y="279349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15">
            <a:extLst>
              <a:ext uri="{FF2B5EF4-FFF2-40B4-BE49-F238E27FC236}">
                <a16:creationId xmlns:a16="http://schemas.microsoft.com/office/drawing/2014/main" id="{7B5CBDD7-6D89-34F0-6557-5DF2C8EDF431}"/>
              </a:ext>
            </a:extLst>
          </p:cNvPr>
          <p:cNvSpPr/>
          <p:nvPr/>
        </p:nvSpPr>
        <p:spPr>
          <a:xfrm>
            <a:off x="4143756" y="261061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7AE4E160-B930-CCDD-3E10-BF3AA4B7F260}"/>
              </a:ext>
            </a:extLst>
          </p:cNvPr>
          <p:cNvSpPr/>
          <p:nvPr/>
        </p:nvSpPr>
        <p:spPr>
          <a:xfrm>
            <a:off x="4326636" y="334213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17">
            <a:extLst>
              <a:ext uri="{FF2B5EF4-FFF2-40B4-BE49-F238E27FC236}">
                <a16:creationId xmlns:a16="http://schemas.microsoft.com/office/drawing/2014/main" id="{BBD586E3-D4FE-3EA8-7452-C833C7712519}"/>
              </a:ext>
            </a:extLst>
          </p:cNvPr>
          <p:cNvSpPr/>
          <p:nvPr/>
        </p:nvSpPr>
        <p:spPr>
          <a:xfrm>
            <a:off x="4326636" y="297637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18">
            <a:extLst>
              <a:ext uri="{FF2B5EF4-FFF2-40B4-BE49-F238E27FC236}">
                <a16:creationId xmlns:a16="http://schemas.microsoft.com/office/drawing/2014/main" id="{4EAB18CE-5A80-2053-E730-5DFB1553896A}"/>
              </a:ext>
            </a:extLst>
          </p:cNvPr>
          <p:cNvSpPr/>
          <p:nvPr/>
        </p:nvSpPr>
        <p:spPr>
          <a:xfrm>
            <a:off x="4326636" y="274777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19">
            <a:extLst>
              <a:ext uri="{FF2B5EF4-FFF2-40B4-BE49-F238E27FC236}">
                <a16:creationId xmlns:a16="http://schemas.microsoft.com/office/drawing/2014/main" id="{374F6653-7C81-AC1A-0F0F-2E77EA03F8DD}"/>
              </a:ext>
            </a:extLst>
          </p:cNvPr>
          <p:cNvSpPr/>
          <p:nvPr/>
        </p:nvSpPr>
        <p:spPr>
          <a:xfrm>
            <a:off x="4326636" y="256489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20">
            <a:extLst>
              <a:ext uri="{FF2B5EF4-FFF2-40B4-BE49-F238E27FC236}">
                <a16:creationId xmlns:a16="http://schemas.microsoft.com/office/drawing/2014/main" id="{EF6992D4-F849-8FDE-539A-6F51D30DE3B5}"/>
              </a:ext>
            </a:extLst>
          </p:cNvPr>
          <p:cNvSpPr/>
          <p:nvPr/>
        </p:nvSpPr>
        <p:spPr>
          <a:xfrm>
            <a:off x="4509516" y="338785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21">
            <a:extLst>
              <a:ext uri="{FF2B5EF4-FFF2-40B4-BE49-F238E27FC236}">
                <a16:creationId xmlns:a16="http://schemas.microsoft.com/office/drawing/2014/main" id="{E748F03A-C9FA-BDC2-02AA-57DC0EED1BB1}"/>
              </a:ext>
            </a:extLst>
          </p:cNvPr>
          <p:cNvSpPr/>
          <p:nvPr/>
        </p:nvSpPr>
        <p:spPr>
          <a:xfrm>
            <a:off x="4509516" y="304038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22">
            <a:extLst>
              <a:ext uri="{FF2B5EF4-FFF2-40B4-BE49-F238E27FC236}">
                <a16:creationId xmlns:a16="http://schemas.microsoft.com/office/drawing/2014/main" id="{0EB2ED46-A63C-77F7-1B52-F5948543BD86}"/>
              </a:ext>
            </a:extLst>
          </p:cNvPr>
          <p:cNvSpPr/>
          <p:nvPr/>
        </p:nvSpPr>
        <p:spPr>
          <a:xfrm>
            <a:off x="4509516" y="283921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23">
            <a:extLst>
              <a:ext uri="{FF2B5EF4-FFF2-40B4-BE49-F238E27FC236}">
                <a16:creationId xmlns:a16="http://schemas.microsoft.com/office/drawing/2014/main" id="{119441B0-123F-741E-FCBB-BA90DCB463B9}"/>
              </a:ext>
            </a:extLst>
          </p:cNvPr>
          <p:cNvSpPr/>
          <p:nvPr/>
        </p:nvSpPr>
        <p:spPr>
          <a:xfrm>
            <a:off x="4509516" y="26746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24">
            <a:extLst>
              <a:ext uri="{FF2B5EF4-FFF2-40B4-BE49-F238E27FC236}">
                <a16:creationId xmlns:a16="http://schemas.microsoft.com/office/drawing/2014/main" id="{EA88C7EB-F4D2-370C-C3DF-8DB692EBDA56}"/>
              </a:ext>
            </a:extLst>
          </p:cNvPr>
          <p:cNvSpPr/>
          <p:nvPr/>
        </p:nvSpPr>
        <p:spPr>
          <a:xfrm>
            <a:off x="4692396" y="352501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25">
            <a:extLst>
              <a:ext uri="{FF2B5EF4-FFF2-40B4-BE49-F238E27FC236}">
                <a16:creationId xmlns:a16="http://schemas.microsoft.com/office/drawing/2014/main" id="{010F7579-86AA-5E53-61A3-50E7FD68B8F1}"/>
              </a:ext>
            </a:extLst>
          </p:cNvPr>
          <p:cNvSpPr/>
          <p:nvPr/>
        </p:nvSpPr>
        <p:spPr>
          <a:xfrm>
            <a:off x="4692396" y="325069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26">
            <a:extLst>
              <a:ext uri="{FF2B5EF4-FFF2-40B4-BE49-F238E27FC236}">
                <a16:creationId xmlns:a16="http://schemas.microsoft.com/office/drawing/2014/main" id="{A6DA028D-8B0D-A7A1-D3EB-5C68CDF3F238}"/>
              </a:ext>
            </a:extLst>
          </p:cNvPr>
          <p:cNvSpPr/>
          <p:nvPr/>
        </p:nvSpPr>
        <p:spPr>
          <a:xfrm>
            <a:off x="4692396" y="302209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27">
            <a:extLst>
              <a:ext uri="{FF2B5EF4-FFF2-40B4-BE49-F238E27FC236}">
                <a16:creationId xmlns:a16="http://schemas.microsoft.com/office/drawing/2014/main" id="{F60B7429-9068-C244-ED31-1B40C52E5F2E}"/>
              </a:ext>
            </a:extLst>
          </p:cNvPr>
          <p:cNvSpPr/>
          <p:nvPr/>
        </p:nvSpPr>
        <p:spPr>
          <a:xfrm>
            <a:off x="4692396" y="2884932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28">
            <a:extLst>
              <a:ext uri="{FF2B5EF4-FFF2-40B4-BE49-F238E27FC236}">
                <a16:creationId xmlns:a16="http://schemas.microsoft.com/office/drawing/2014/main" id="{AC5FB2DB-B187-25FF-6C19-DDCA6ED5B49A}"/>
              </a:ext>
            </a:extLst>
          </p:cNvPr>
          <p:cNvSpPr/>
          <p:nvPr/>
        </p:nvSpPr>
        <p:spPr>
          <a:xfrm>
            <a:off x="1706880" y="5428194"/>
            <a:ext cx="4572000" cy="10972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29">
            <a:extLst>
              <a:ext uri="{FF2B5EF4-FFF2-40B4-BE49-F238E27FC236}">
                <a16:creationId xmlns:a16="http://schemas.microsoft.com/office/drawing/2014/main" id="{15129B72-AF44-E285-C222-33FC56F57301}"/>
              </a:ext>
            </a:extLst>
          </p:cNvPr>
          <p:cNvSpPr/>
          <p:nvPr/>
        </p:nvSpPr>
        <p:spPr>
          <a:xfrm>
            <a:off x="1766316" y="5091176"/>
            <a:ext cx="2926080" cy="109728"/>
          </a:xfrm>
          <a:prstGeom prst="rect">
            <a:avLst/>
          </a:prstGeom>
          <a:solidFill>
            <a:srgbClr val="2EC866"/>
          </a:solidFill>
          <a:ln w="12700">
            <a:solidFill>
              <a:srgbClr val="2EC86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7" name="Text 30">
            <a:extLst>
              <a:ext uri="{FF2B5EF4-FFF2-40B4-BE49-F238E27FC236}">
                <a16:creationId xmlns:a16="http://schemas.microsoft.com/office/drawing/2014/main" id="{90906000-CE32-8C26-64C1-3AD1E9954BC1}"/>
              </a:ext>
            </a:extLst>
          </p:cNvPr>
          <p:cNvSpPr/>
          <p:nvPr/>
        </p:nvSpPr>
        <p:spPr>
          <a:xfrm>
            <a:off x="1736397" y="488920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2EC866"/>
                </a:solidFill>
              </a:rPr>
              <a:t>Hold still: 1.2s</a:t>
            </a:r>
            <a:endParaRPr lang="en-US" sz="900" dirty="0"/>
          </a:p>
        </p:txBody>
      </p:sp>
      <p:sp>
        <p:nvSpPr>
          <p:cNvPr id="88" name="Text 31">
            <a:extLst>
              <a:ext uri="{FF2B5EF4-FFF2-40B4-BE49-F238E27FC236}">
                <a16:creationId xmlns:a16="http://schemas.microsoft.com/office/drawing/2014/main" id="{5F1F2EA4-00DB-63F7-069D-0DC376E7B545}"/>
              </a:ext>
            </a:extLst>
          </p:cNvPr>
          <p:cNvSpPr/>
          <p:nvPr/>
        </p:nvSpPr>
        <p:spPr>
          <a:xfrm>
            <a:off x="1736397" y="537587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8B9EB7"/>
                </a:solidFill>
              </a:rPr>
              <a:t>Similarity: 0.871  (threshold: 0.82)</a:t>
            </a:r>
            <a:endParaRPr lang="en-US" sz="800" dirty="0"/>
          </a:p>
        </p:txBody>
      </p:sp>
      <p:sp>
        <p:nvSpPr>
          <p:cNvPr id="90" name="Text 33">
            <a:extLst>
              <a:ext uri="{FF2B5EF4-FFF2-40B4-BE49-F238E27FC236}">
                <a16:creationId xmlns:a16="http://schemas.microsoft.com/office/drawing/2014/main" id="{31CFD13E-04C5-240C-D21E-7A76D2847C5D}"/>
              </a:ext>
            </a:extLst>
          </p:cNvPr>
          <p:cNvSpPr/>
          <p:nvPr/>
        </p:nvSpPr>
        <p:spPr>
          <a:xfrm>
            <a:off x="6717792" y="121844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🟢 Hand Detected Overlay</a:t>
            </a:r>
            <a:endParaRPr lang="en-US" sz="2000" dirty="0"/>
          </a:p>
        </p:txBody>
      </p:sp>
      <p:sp>
        <p:nvSpPr>
          <p:cNvPr id="91" name="Text 34">
            <a:extLst>
              <a:ext uri="{FF2B5EF4-FFF2-40B4-BE49-F238E27FC236}">
                <a16:creationId xmlns:a16="http://schemas.microsoft.com/office/drawing/2014/main" id="{E798F60B-D9AC-48F4-855F-0211B3064796}"/>
              </a:ext>
            </a:extLst>
          </p:cNvPr>
          <p:cNvSpPr/>
          <p:nvPr/>
        </p:nvSpPr>
        <p:spPr>
          <a:xfrm>
            <a:off x="6909816" y="18201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Landmark skeleton + connection lines drawn in real-time on the video feed using </a:t>
            </a:r>
            <a:r>
              <a:rPr lang="en-US" sz="1600" dirty="0" err="1"/>
              <a:t>mp_drawing</a:t>
            </a:r>
            <a:r>
              <a:rPr lang="en-US" sz="1600" dirty="0"/>
              <a:t> utilities.</a:t>
            </a:r>
          </a:p>
        </p:txBody>
      </p:sp>
      <p:sp>
        <p:nvSpPr>
          <p:cNvPr id="93" name="Text 36">
            <a:extLst>
              <a:ext uri="{FF2B5EF4-FFF2-40B4-BE49-F238E27FC236}">
                <a16:creationId xmlns:a16="http://schemas.microsoft.com/office/drawing/2014/main" id="{E0FFD220-32B5-AD34-459B-FE2514BD1BB7}"/>
              </a:ext>
            </a:extLst>
          </p:cNvPr>
          <p:cNvSpPr/>
          <p:nvPr/>
        </p:nvSpPr>
        <p:spPr>
          <a:xfrm>
            <a:off x="6827520" y="26426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📊 Progress Bar</a:t>
            </a:r>
            <a:endParaRPr lang="en-US" sz="2000" dirty="0"/>
          </a:p>
        </p:txBody>
      </p:sp>
      <p:sp>
        <p:nvSpPr>
          <p:cNvPr id="94" name="Text 37">
            <a:extLst>
              <a:ext uri="{FF2B5EF4-FFF2-40B4-BE49-F238E27FC236}">
                <a16:creationId xmlns:a16="http://schemas.microsoft.com/office/drawing/2014/main" id="{2AF07C53-4D66-A612-40BF-7386A30040B2}"/>
              </a:ext>
            </a:extLst>
          </p:cNvPr>
          <p:cNvSpPr/>
          <p:nvPr/>
        </p:nvSpPr>
        <p:spPr>
          <a:xfrm>
            <a:off x="6909816" y="31455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Bottom bar fills over 3 seconds while gesture is held, showing capture completion.</a:t>
            </a:r>
          </a:p>
        </p:txBody>
      </p:sp>
      <p:sp>
        <p:nvSpPr>
          <p:cNvPr id="96" name="Text 39">
            <a:extLst>
              <a:ext uri="{FF2B5EF4-FFF2-40B4-BE49-F238E27FC236}">
                <a16:creationId xmlns:a16="http://schemas.microsoft.com/office/drawing/2014/main" id="{0785288D-D245-CD0C-011B-8ADE394B1932}"/>
              </a:ext>
            </a:extLst>
          </p:cNvPr>
          <p:cNvSpPr/>
          <p:nvPr/>
        </p:nvSpPr>
        <p:spPr>
          <a:xfrm>
            <a:off x="6827520" y="37536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⏱️ Countdown Timer</a:t>
            </a:r>
            <a:endParaRPr lang="en-US" sz="2000" dirty="0"/>
          </a:p>
        </p:txBody>
      </p:sp>
      <p:sp>
        <p:nvSpPr>
          <p:cNvPr id="97" name="Text 40">
            <a:extLst>
              <a:ext uri="{FF2B5EF4-FFF2-40B4-BE49-F238E27FC236}">
                <a16:creationId xmlns:a16="http://schemas.microsoft.com/office/drawing/2014/main" id="{BCFA72D3-576A-488A-9DB2-779BD48E08FC}"/>
              </a:ext>
            </a:extLst>
          </p:cNvPr>
          <p:cNvSpPr/>
          <p:nvPr/>
        </p:nvSpPr>
        <p:spPr>
          <a:xfrm>
            <a:off x="6827520" y="42519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Live countdown displayed bottom-left: 'Hold still: X.Xs' in green.</a:t>
            </a:r>
          </a:p>
        </p:txBody>
      </p:sp>
      <p:sp>
        <p:nvSpPr>
          <p:cNvPr id="99" name="Text 42">
            <a:extLst>
              <a:ext uri="{FF2B5EF4-FFF2-40B4-BE49-F238E27FC236}">
                <a16:creationId xmlns:a16="http://schemas.microsoft.com/office/drawing/2014/main" id="{5945844F-2C71-7A47-1A15-9F09B3B6A282}"/>
              </a:ext>
            </a:extLst>
          </p:cNvPr>
          <p:cNvSpPr/>
          <p:nvPr/>
        </p:nvSpPr>
        <p:spPr>
          <a:xfrm>
            <a:off x="6827520" y="48234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🔢 Similarity Score</a:t>
            </a:r>
            <a:endParaRPr lang="en-US" sz="2000" dirty="0"/>
          </a:p>
        </p:txBody>
      </p:sp>
      <p:sp>
        <p:nvSpPr>
          <p:cNvPr id="100" name="Text 43">
            <a:extLst>
              <a:ext uri="{FF2B5EF4-FFF2-40B4-BE49-F238E27FC236}">
                <a16:creationId xmlns:a16="http://schemas.microsoft.com/office/drawing/2014/main" id="{271BCFEB-6291-3521-3EDC-4671F488FBA5}"/>
              </a:ext>
            </a:extLst>
          </p:cNvPr>
          <p:cNvSpPr/>
          <p:nvPr/>
        </p:nvSpPr>
        <p:spPr>
          <a:xfrm>
            <a:off x="6827520" y="5321808"/>
            <a:ext cx="3291840" cy="31774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After capture, score is printed to console: 'Similarity score: 0.871 (threshold: 0.820)'.</a:t>
            </a:r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D4DB12-1C0D-415B-57CA-785931DCA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152" y="0"/>
            <a:ext cx="5632704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E5FC1A-8DF9-ED31-A0AC-3761CAE33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0"/>
            <a:ext cx="57363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9E5F3-E6B4-5230-807B-0B410A378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0ACEA4-6F0D-D11E-312A-510C5442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15584" cy="6858000"/>
          </a:xfrm>
          <a:prstGeom prst="rect">
            <a:avLst/>
          </a:prstGeom>
        </p:spPr>
      </p:pic>
      <p:sp>
        <p:nvSpPr>
          <p:cNvPr id="7" name="AutoShape 4">
            <a:extLst>
              <a:ext uri="{FF2B5EF4-FFF2-40B4-BE49-F238E27FC236}">
                <a16:creationId xmlns:a16="http://schemas.microsoft.com/office/drawing/2014/main" id="{C2744704-D5D0-4434-5768-CB400D495E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2C376D-D950-32EB-036C-5451B0548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0"/>
            <a:ext cx="6376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62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3">
            <a:extLst>
              <a:ext uri="{FF2B5EF4-FFF2-40B4-BE49-F238E27FC236}">
                <a16:creationId xmlns:a16="http://schemas.microsoft.com/office/drawing/2014/main" id="{D1328463-3044-1BAB-7C3B-6E5FC879DA4F}"/>
              </a:ext>
            </a:extLst>
          </p:cNvPr>
          <p:cNvSpPr/>
          <p:nvPr/>
        </p:nvSpPr>
        <p:spPr>
          <a:xfrm>
            <a:off x="97536" y="51892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F2D5E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089F03A-C1DE-2FA2-FE69-1896D0365A8E}"/>
              </a:ext>
            </a:extLst>
          </p:cNvPr>
          <p:cNvSpPr/>
          <p:nvPr/>
        </p:nvSpPr>
        <p:spPr>
          <a:xfrm>
            <a:off x="664464" y="13350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[1]</a:t>
            </a: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E9866B23-C0EF-00FC-6589-05FFBB24C06D}"/>
              </a:ext>
            </a:extLst>
          </p:cNvPr>
          <p:cNvSpPr/>
          <p:nvPr/>
        </p:nvSpPr>
        <p:spPr>
          <a:xfrm>
            <a:off x="1267968" y="136931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Google MediaPipe Team. MediaPipe Hands: On-device Real-time Hand Tracking. Google AI Blog, 2020. https://ai.google.dev/edge/mediapipe/solutions/vision/hand_landmarker</a:t>
            </a:r>
            <a:endParaRPr lang="en-US" sz="16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7B0A31B5-4227-F4B4-F588-FCD6ED16AF1C}"/>
              </a:ext>
            </a:extLst>
          </p:cNvPr>
          <p:cNvSpPr/>
          <p:nvPr/>
        </p:nvSpPr>
        <p:spPr>
          <a:xfrm>
            <a:off x="664464" y="19293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[2]</a:t>
            </a: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07C24A5-869B-FC9B-ED81-2C021FCA5598}"/>
              </a:ext>
            </a:extLst>
          </p:cNvPr>
          <p:cNvSpPr/>
          <p:nvPr/>
        </p:nvSpPr>
        <p:spPr>
          <a:xfrm>
            <a:off x="1267968" y="197739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Bradski, G. (2000). The OpenCV Library. Dr. Dobb's Journal of Software Tools. https://opencv.org</a:t>
            </a:r>
            <a:endParaRPr lang="en-US" sz="16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E20CD8C-513D-980A-4E46-B81EAE790FCA}"/>
              </a:ext>
            </a:extLst>
          </p:cNvPr>
          <p:cNvSpPr/>
          <p:nvPr/>
        </p:nvSpPr>
        <p:spPr>
          <a:xfrm>
            <a:off x="664464" y="262661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[3]</a:t>
            </a: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7A5DD98-D23C-B5C5-EBB7-85850F828E55}"/>
              </a:ext>
            </a:extLst>
          </p:cNvPr>
          <p:cNvSpPr/>
          <p:nvPr/>
        </p:nvSpPr>
        <p:spPr>
          <a:xfrm>
            <a:off x="1267968" y="26700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Harris, C.R., et al. Array programming with NumPy. Nature, 585, 357–362, 2020. https://numpy.org</a:t>
            </a:r>
            <a:endParaRPr lang="en-US" sz="16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FD1F25F6-3362-6105-88DE-322982BBE894}"/>
              </a:ext>
            </a:extLst>
          </p:cNvPr>
          <p:cNvSpPr/>
          <p:nvPr/>
        </p:nvSpPr>
        <p:spPr>
          <a:xfrm>
            <a:off x="664464" y="32598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[4]</a:t>
            </a: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7051C4E2-2699-B837-66F6-F24031BA33FE}"/>
              </a:ext>
            </a:extLst>
          </p:cNvPr>
          <p:cNvSpPr/>
          <p:nvPr/>
        </p:nvSpPr>
        <p:spPr>
          <a:xfrm>
            <a:off x="1267968" y="3281553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Python Software Foundation. Python 3 Documentation. https://docs.python.org/3/</a:t>
            </a:r>
            <a:endParaRPr lang="en-US" sz="16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87C86DC2-C9F0-79A1-6DF2-8DEA36C9038D}"/>
              </a:ext>
            </a:extLst>
          </p:cNvPr>
          <p:cNvSpPr/>
          <p:nvPr/>
        </p:nvSpPr>
        <p:spPr>
          <a:xfrm>
            <a:off x="664464" y="378790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[5]</a:t>
            </a: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AB7CF866-637D-93DD-E2BA-A01194E5B677}"/>
              </a:ext>
            </a:extLst>
          </p:cNvPr>
          <p:cNvSpPr/>
          <p:nvPr/>
        </p:nvSpPr>
        <p:spPr>
          <a:xfrm>
            <a:off x="1267968" y="389305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Mane, S., et al. Gesture-Based Authentication Using Hand Landmarks and Machine Learning. IJCSIT, 2022.</a:t>
            </a:r>
            <a:endParaRPr lang="en-US" sz="16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ABC7C38D-7AFA-CC81-5EF6-DC5D96E74818}"/>
              </a:ext>
            </a:extLst>
          </p:cNvPr>
          <p:cNvSpPr/>
          <p:nvPr/>
        </p:nvSpPr>
        <p:spPr>
          <a:xfrm>
            <a:off x="664464" y="444169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[6]</a:t>
            </a: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7F8AA17E-25B1-871B-AEC9-4E6C09E80214}"/>
              </a:ext>
            </a:extLst>
          </p:cNvPr>
          <p:cNvSpPr/>
          <p:nvPr/>
        </p:nvSpPr>
        <p:spPr>
          <a:xfrm>
            <a:off x="1267968" y="453885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National Institute of Standards and Technology (NIST). Digital Identity Guidelines (SP 800-63B), 2020. https://pages.nist.gov/800-63-3/</a:t>
            </a:r>
            <a:endParaRPr lang="en-US" sz="16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EEE8001F-3C52-0516-650B-91A742E073BD}"/>
              </a:ext>
            </a:extLst>
          </p:cNvPr>
          <p:cNvSpPr/>
          <p:nvPr/>
        </p:nvSpPr>
        <p:spPr>
          <a:xfrm>
            <a:off x="664464" y="5074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[7]</a:t>
            </a: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E7A18DA5-6098-465A-9953-91386873BA04}"/>
              </a:ext>
            </a:extLst>
          </p:cNvPr>
          <p:cNvSpPr/>
          <p:nvPr/>
        </p:nvSpPr>
        <p:spPr>
          <a:xfrm>
            <a:off x="1267968" y="5150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OpenAI / Anthropic Claude. AI-assisted code generation prompts and responses. [AI Tool used in this project]</a:t>
            </a:r>
            <a:endParaRPr lang="en-US" sz="16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FB32356B-C299-CFE0-47A6-3C8C76B0BB48}"/>
              </a:ext>
            </a:extLst>
          </p:cNvPr>
          <p:cNvSpPr/>
          <p:nvPr/>
        </p:nvSpPr>
        <p:spPr>
          <a:xfrm>
            <a:off x="1121664" y="5822442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Gesture-Based Secure Authentication System  |  Department of 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C348A0B-8B29-2F3B-99D6-38E28B8F3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140696" cy="5029200"/>
          </a:xfrm>
        </p:spPr>
        <p:txBody>
          <a:bodyPr/>
          <a:lstStyle/>
          <a:p>
            <a:r>
              <a:rPr lang="en-US" dirty="0"/>
              <a:t>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05502719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{8F4CA49E-8F1C-4192-8719-26CDE9A9D33F}TF1ed9553b-00c4-4092-846a-c8f7f2908f3beecd942f_win32-8e33096c3cfc</Template>
  <TotalTime>271</TotalTime>
  <Words>1138</Words>
  <Application>Microsoft Office PowerPoint</Application>
  <PresentationFormat>Widescreen</PresentationFormat>
  <Paragraphs>155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Gill Sans Nova Light</vt:lpstr>
      <vt:lpstr>Sagona Book</vt:lpstr>
      <vt:lpstr>Custom</vt:lpstr>
      <vt:lpstr>Gesture-Based Secure Authentication System  Team Members:  2303A51684  2303A51062  2303A510G7  2303A51360  Department of Computer Science &amp; Engineering </vt:lpstr>
      <vt:lpstr>What is Gesture-Based Authentication?</vt:lpstr>
      <vt:lpstr>Project Objectives</vt:lpstr>
      <vt:lpstr>Key Stakeholders</vt:lpstr>
      <vt:lpstr>Programming Languages, Tools &amp; Software</vt:lpstr>
      <vt:lpstr>Prompts Used to Generate Code  (1/2)</vt:lpstr>
      <vt:lpstr>Prompts Used to Generate Code  (2/2)</vt:lpstr>
      <vt:lpstr>Prompts Used to Generate Code  (3/2)</vt:lpstr>
      <vt:lpstr>System Workflow Flowchart</vt:lpstr>
      <vt:lpstr>Application User Interface</vt:lpstr>
      <vt:lpstr>PowerPoint Presentation</vt:lpstr>
      <vt:lpstr>PowerPoint Presentation</vt:lpstr>
      <vt:lpstr>PowerPoint Presentation</vt:lpstr>
      <vt:lpstr>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Sravani Anumala</dc:creator>
  <cp:lastModifiedBy>Sravani Anumala</cp:lastModifiedBy>
  <cp:revision>3</cp:revision>
  <dcterms:created xsi:type="dcterms:W3CDTF">2026-04-09T15:46:18Z</dcterms:created>
  <dcterms:modified xsi:type="dcterms:W3CDTF">2026-04-10T05:15:10Z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